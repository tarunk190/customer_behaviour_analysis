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4642-56B8-448A-91E5-4F00CCB1C0F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8FEB7-C5BB-4FAB-9519-F989F57CA9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39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D131-30EE-4637-A5D9-9F1035466E42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B2777-40EE-4F3C-849F-94A4238A79C2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2C0B-BCFF-4D4A-AF96-34F3996A1F28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FFAFF-304D-44C3-8486-B3CE236F3B20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B409-B06F-4871-B979-F093103ACE83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624E5-2398-440F-9F54-0E01E3F4CF7D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44ABA-31D8-485A-9329-B3233775E1BA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0D2C-0B6F-4268-9763-D86FFAC941DD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B0DA-0663-4DEA-8BB9-4A67081ACD80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376B-16B4-4C14-883F-E80705EDB96D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1ACE-4685-4F8C-B0B2-1E0265013A67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AF61-71D2-450D-BF6B-9C21CB72B2AE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by Tarun 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37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764" y="0"/>
            <a:ext cx="12191695" cy="6858000"/>
          </a:xfrm>
          <a:prstGeom prst="rect">
            <a:avLst/>
          </a:prstGeom>
          <a:solidFill>
            <a:srgbClr val="103652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09624" y="2495550"/>
            <a:ext cx="10172445" cy="7334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  <a:latin typeface="Source Sans Pro"/>
              </a:rPr>
              <a:t>Customer Shopping Behavior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19599" y="3507351"/>
            <a:ext cx="1142971" cy="381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38478" y="3771900"/>
            <a:ext cx="450521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0" dirty="0">
                <a:solidFill>
                  <a:srgbClr val="4ECDC4"/>
                </a:solidFill>
                <a:latin typeface="Source Sans Pro"/>
              </a:rPr>
              <a:t>Leveraging Consumer Data for Business Growth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1B672-D176-07AF-74B2-EA159EE74D53}"/>
              </a:ext>
            </a:extLst>
          </p:cNvPr>
          <p:cNvSpPr txBox="1"/>
          <p:nvPr/>
        </p:nvSpPr>
        <p:spPr>
          <a:xfrm>
            <a:off x="1396180" y="5724524"/>
            <a:ext cx="300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A report by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ED6DAE-4D6D-5909-515D-6ECAE7F0BDD6}"/>
              </a:ext>
            </a:extLst>
          </p:cNvPr>
          <p:cNvSpPr/>
          <p:nvPr/>
        </p:nvSpPr>
        <p:spPr>
          <a:xfrm>
            <a:off x="2543005" y="5341969"/>
            <a:ext cx="37209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TARUN KARI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04874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Project Overview &amp;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90625"/>
            <a:ext cx="634349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103652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3652"/>
                </a:solidFill>
                <a:latin typeface="Source Sans Pro"/>
              </a:rPr>
              <a:t> Business Challenge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24491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1581149"/>
            <a:ext cx="63434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Leading retail company seeking to </a:t>
            </a:r>
            <a:r>
              <a:rPr sz="1196" b="1">
                <a:solidFill>
                  <a:srgbClr val="4ECDC4"/>
                </a:solidFill>
                <a:latin typeface="Source Sans Pro"/>
              </a:rPr>
              <a:t>understand customer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1895474"/>
            <a:ext cx="63434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Noticed changes in purchasing patterns across 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2209800"/>
            <a:ext cx="63434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Need to identify factors driving consumer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2686050"/>
            <a:ext cx="634349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103652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3652"/>
                </a:solidFill>
                <a:latin typeface="Source Sans Pro"/>
              </a:rPr>
              <a:t> Key Objectives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775585"/>
            <a:ext cx="228594" cy="125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33" y="3076574"/>
            <a:ext cx="63434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Improve </a:t>
            </a:r>
            <a:r>
              <a:rPr sz="1196" b="1">
                <a:solidFill>
                  <a:srgbClr val="4ECDC4"/>
                </a:solidFill>
                <a:latin typeface="Source Sans Pro"/>
              </a:rPr>
              <a:t>sales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33" y="3390899"/>
            <a:ext cx="63434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Enhance </a:t>
            </a:r>
            <a:r>
              <a:rPr sz="1196" b="1">
                <a:solidFill>
                  <a:srgbClr val="4ECDC4"/>
                </a:solidFill>
                <a:latin typeface="Source Sans Pro"/>
              </a:rPr>
              <a:t>customer 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33" y="3705224"/>
            <a:ext cx="634349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Build long-term </a:t>
            </a:r>
            <a:r>
              <a:rPr sz="1196" b="1">
                <a:solidFill>
                  <a:srgbClr val="4ECDC4"/>
                </a:solidFill>
                <a:latin typeface="Source Sans Pro"/>
              </a:rPr>
              <a:t>customer loyalty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33" y="4181474"/>
            <a:ext cx="6343491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103652"/>
                </a:solidFill>
                <a:latin typeface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103652"/>
                </a:solidFill>
                <a:latin typeface="Source Sans Pro"/>
              </a:rPr>
              <a:t> Business Question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4227195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6733" y="4572000"/>
            <a:ext cx="6343491" cy="7143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How can the company leverage consumer shopping data to identify trends, improve customer engagement, and optimize marketing and product strategies?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3619" y="1570087"/>
            <a:ext cx="4228994" cy="362902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8B26E7D-BBAD-BCB7-6A7A-B49144A8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Dataset Summary &amp;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210044" cy="1028700"/>
          </a:xfrm>
          <a:prstGeom prst="roundRect">
            <a:avLst>
              <a:gd name="adj" fmla="val 14814"/>
            </a:avLst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464844"/>
            <a:ext cx="457188" cy="385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4912" y="1333500"/>
            <a:ext cx="1295367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ECDC4"/>
                </a:solidFill>
                <a:latin typeface="Source Sans Pro"/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4912" y="1762125"/>
            <a:ext cx="1295367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Rows (Purchases)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4917" y="1143000"/>
            <a:ext cx="5210044" cy="1028700"/>
          </a:xfrm>
          <a:prstGeom prst="roundRect">
            <a:avLst>
              <a:gd name="adj" fmla="val 14814"/>
            </a:avLst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5412" y="1518986"/>
            <a:ext cx="457188" cy="27672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53096" y="1333500"/>
            <a:ext cx="1428714" cy="4286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ECDC4"/>
                </a:solidFill>
                <a:latin typeface="Source Sans Pro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3096" y="1762125"/>
            <a:ext cx="1428714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</a:rPr>
              <a:t>Columns (Features)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604" y="2457450"/>
            <a:ext cx="3333666" cy="30670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099" y="2725392"/>
            <a:ext cx="419089" cy="2642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14437" y="2724150"/>
            <a:ext cx="220974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03652"/>
                </a:solidFill>
                <a:latin typeface="Source Sans Pro"/>
              </a:rPr>
              <a:t>Customer Demographics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99" y="3209925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099" y="3543300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Gender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099" y="3876674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99" y="4210049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Subscription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9014" y="2457450"/>
            <a:ext cx="3333666" cy="30670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509" y="2679838"/>
            <a:ext cx="419089" cy="3553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33846" y="2724150"/>
            <a:ext cx="149538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03652"/>
                </a:solidFill>
                <a:latin typeface="Source Sans Pro"/>
              </a:rPr>
              <a:t>Purchase Details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509" y="3209925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Item Purchased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509" y="3543300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509" y="3876674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Purchase Amount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9509" y="4210049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Season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9509" y="4543425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9509" y="4876800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Color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8423" y="2457450"/>
            <a:ext cx="3333666" cy="30670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8919" y="2700337"/>
            <a:ext cx="419089" cy="3143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53256" y="2724150"/>
            <a:ext cx="17144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03652"/>
                </a:solidFill>
                <a:latin typeface="Source Sans Pro"/>
              </a:rPr>
              <a:t>Shopping 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919" y="3209925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Discount Applied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919" y="3543300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Previous Purchases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919" y="3876674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Frequency of Purchases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8919" y="4210049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Review Rating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919" y="4543425"/>
            <a:ext cx="2952676" cy="238124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000000"/>
                </a:solidFill>
                <a:latin typeface="Source Sans Pro"/>
              </a:rPr>
              <a:t>Shipping Type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178CFAA-CD15-B490-8D38-1DD733E0BE19}"/>
              </a:ext>
            </a:extLst>
          </p:cNvPr>
          <p:cNvGrpSpPr/>
          <p:nvPr/>
        </p:nvGrpSpPr>
        <p:grpSpPr>
          <a:xfrm>
            <a:off x="666886" y="5715000"/>
            <a:ext cx="10858228" cy="514350"/>
            <a:chOff x="666886" y="5715000"/>
            <a:chExt cx="10858228" cy="514350"/>
          </a:xfrm>
        </p:grpSpPr>
        <p:sp>
          <p:nvSpPr>
            <p:cNvPr id="36" name="Rounded Rectangle 35"/>
            <p:cNvSpPr/>
            <p:nvPr/>
          </p:nvSpPr>
          <p:spPr>
            <a:xfrm>
              <a:off x="666886" y="5715000"/>
              <a:ext cx="10858228" cy="51435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 Same Side Corner Rectangle 36"/>
            <p:cNvSpPr/>
            <p:nvPr/>
          </p:nvSpPr>
          <p:spPr>
            <a:xfrm rot="16200000">
              <a:off x="475751" y="5906135"/>
              <a:ext cx="514350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FC1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" name="Picture 37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47856" y="5879306"/>
              <a:ext cx="228594" cy="185737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1219322" y="5867399"/>
              <a:ext cx="3457488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  <a:latin typeface="Source Sans Pro"/>
                </a:rPr>
                <a:t>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Missing Data:</a:t>
              </a:r>
              <a:r>
                <a:rPr sz="1076" b="0">
                  <a:solidFill>
                    <a:srgbClr val="333333"/>
                  </a:solidFill>
                  <a:latin typeface="Source Sans Pro"/>
                </a:rPr>
                <a:t> 37 values in Review Rating column </a:t>
              </a:r>
            </a:p>
          </p:txBody>
        </p:sp>
      </p:grp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46DED8F0-4759-49B8-0FD2-39F34346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Data Preparation &amp; Cleaning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714457" cy="207644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90595" y="13335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9664" y="1581149"/>
            <a:ext cx="228594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2143125"/>
            <a:ext cx="96200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3652"/>
                </a:solidFill>
                <a:latin typeface="Source Sans Pro"/>
              </a:rPr>
              <a:t>Data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2457450"/>
            <a:ext cx="1333466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Source Sans Pro"/>
              </a:rPr>
              <a:t>Import dataset using pandas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2676" y="1143000"/>
            <a:ext cx="1714457" cy="207644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6538" y="13335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5607" y="1579721"/>
            <a:ext cx="228594" cy="1743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90815" y="2143125"/>
            <a:ext cx="84770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3652"/>
                </a:solidFill>
                <a:latin typeface="Source Sans Pro"/>
              </a:rPr>
              <a:t>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171" y="2457450"/>
            <a:ext cx="133346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Source Sans Pro"/>
              </a:rPr>
              <a:t>Initial analysis with </a:t>
            </a:r>
            <a:r>
              <a:rPr sz="956" b="1">
                <a:solidFill>
                  <a:srgbClr val="4ECDC4"/>
                </a:solidFill>
                <a:latin typeface="Source Sans Pro"/>
              </a:rPr>
              <a:t>df.info()</a:t>
            </a:r>
            <a:r>
              <a:rPr sz="956" b="0">
                <a:solidFill>
                  <a:srgbClr val="555555"/>
                </a:solidFill>
                <a:latin typeface="Source Sans Pro"/>
              </a:rPr>
              <a:t> and </a:t>
            </a:r>
            <a:r>
              <a:rPr sz="956" b="1">
                <a:solidFill>
                  <a:srgbClr val="4ECDC4"/>
                </a:solidFill>
                <a:latin typeface="Source Sans Pro"/>
              </a:rPr>
              <a:t>.describe()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8619" y="1143000"/>
            <a:ext cx="1714457" cy="207644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62480" y="13335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550" y="1558290"/>
            <a:ext cx="228594" cy="2171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72005" y="2143125"/>
            <a:ext cx="64768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3652"/>
                </a:solidFill>
                <a:latin typeface="Source Sans Pro"/>
              </a:rPr>
              <a:t>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114" y="2457450"/>
            <a:ext cx="133346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Source Sans Pro"/>
              </a:rPr>
              <a:t>Handle missing values &amp; standardize columns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4561" y="1143000"/>
            <a:ext cx="1714457" cy="207644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48423" y="13335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7493" y="1556861"/>
            <a:ext cx="228594" cy="2200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34126" y="2143125"/>
            <a:ext cx="88580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3652"/>
                </a:solidFill>
                <a:latin typeface="Source Sans Pro"/>
              </a:rP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057" y="2457450"/>
            <a:ext cx="1333466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Source Sans Pro"/>
              </a:rPr>
              <a:t>Create new features for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10504" y="1143000"/>
            <a:ext cx="1714457" cy="2076449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34366" y="13335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4ECDC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53436" y="1584007"/>
            <a:ext cx="228594" cy="1657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58168" y="2143125"/>
            <a:ext cx="81912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103652"/>
                </a:solidFill>
                <a:latin typeface="Source Sans Pro"/>
              </a:rPr>
              <a:t>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0999" y="2457450"/>
            <a:ext cx="1333466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Source Sans Pro"/>
              </a:rPr>
              <a:t>Load to PostgreSQL database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19A33C-6FB1-E37E-C92A-2C2E92D0AC46}"/>
              </a:ext>
            </a:extLst>
          </p:cNvPr>
          <p:cNvGrpSpPr/>
          <p:nvPr/>
        </p:nvGrpSpPr>
        <p:grpSpPr>
          <a:xfrm>
            <a:off x="666733" y="3505200"/>
            <a:ext cx="4691848" cy="2457450"/>
            <a:chOff x="666733" y="3505199"/>
            <a:chExt cx="5333866" cy="2876549"/>
          </a:xfrm>
        </p:grpSpPr>
        <p:sp>
          <p:nvSpPr>
            <p:cNvPr id="29" name="Rounded Rectangle 28"/>
            <p:cNvSpPr/>
            <p:nvPr/>
          </p:nvSpPr>
          <p:spPr>
            <a:xfrm>
              <a:off x="666733" y="3505199"/>
              <a:ext cx="5333866" cy="2876549"/>
            </a:xfrm>
            <a:prstGeom prst="roundRect">
              <a:avLst>
                <a:gd name="adj" fmla="val 529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57228" y="3705224"/>
              <a:ext cx="380990" cy="36195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333466" y="3771900"/>
              <a:ext cx="113344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Data Cleaning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57228" y="4219575"/>
              <a:ext cx="4952876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076" b="0">
                  <a:solidFill>
                    <a:srgbClr val="000000"/>
                  </a:solidFill>
                  <a:latin typeface="Source Sans Pro"/>
                </a:rPr>
                <a:t>Imputed missing values in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Review Rating</a:t>
              </a:r>
              <a:r>
                <a:rPr sz="1076" b="0">
                  <a:solidFill>
                    <a:srgbClr val="000000"/>
                  </a:solidFill>
                  <a:latin typeface="Source Sans Pro"/>
                </a:rPr>
                <a:t> using median of each product category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57228" y="4752974"/>
              <a:ext cx="495287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076" b="0">
                  <a:solidFill>
                    <a:srgbClr val="000000"/>
                  </a:solidFill>
                  <a:latin typeface="Source Sans Pro"/>
                </a:rPr>
                <a:t>Renamed columns to snake case for consistency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57228" y="5086350"/>
              <a:ext cx="495287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076" b="0">
                  <a:solidFill>
                    <a:srgbClr val="000000"/>
                  </a:solidFill>
                  <a:latin typeface="Source Sans Pro"/>
                </a:rPr>
                <a:t>Verified and removed redundant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promo_code_used</a:t>
              </a:r>
              <a:r>
                <a:rPr sz="1076" b="0">
                  <a:solidFill>
                    <a:srgbClr val="000000"/>
                  </a:solidFill>
                  <a:latin typeface="Source Sans Pro"/>
                </a:rPr>
                <a:t> column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857228" y="5467349"/>
              <a:ext cx="4952876" cy="695325"/>
            </a:xfrm>
            <a:prstGeom prst="roundRect">
              <a:avLst>
                <a:gd name="adj" fmla="val 10958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57228" y="5467349"/>
              <a:ext cx="4952876" cy="695325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df['review_rating'] = df.groupby('category')['review_rating'].transform(lambda x: x.fillna(x.median()))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CF8327-D48A-DD03-F0EC-125ECAF344BE}"/>
              </a:ext>
            </a:extLst>
          </p:cNvPr>
          <p:cNvGrpSpPr/>
          <p:nvPr/>
        </p:nvGrpSpPr>
        <p:grpSpPr>
          <a:xfrm>
            <a:off x="6191095" y="3505199"/>
            <a:ext cx="5166606" cy="2457451"/>
            <a:chOff x="6191095" y="3505199"/>
            <a:chExt cx="5333866" cy="2876549"/>
          </a:xfrm>
        </p:grpSpPr>
        <p:sp>
          <p:nvSpPr>
            <p:cNvPr id="37" name="Rounded Rectangle 36"/>
            <p:cNvSpPr/>
            <p:nvPr/>
          </p:nvSpPr>
          <p:spPr>
            <a:xfrm>
              <a:off x="6191095" y="3505199"/>
              <a:ext cx="5333866" cy="2876549"/>
            </a:xfrm>
            <a:prstGeom prst="roundRect">
              <a:avLst>
                <a:gd name="adj" fmla="val 5298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8" name="Picture 37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81590" y="3702843"/>
              <a:ext cx="380990" cy="366712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857828" y="3771900"/>
              <a:ext cx="1647783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Feature Engineering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381590" y="4219575"/>
              <a:ext cx="495287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076" b="0">
                  <a:solidFill>
                    <a:srgbClr val="000000"/>
                  </a:solidFill>
                  <a:latin typeface="Source Sans Pro"/>
                </a:rPr>
                <a:t>Created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age_group</a:t>
              </a:r>
              <a:r>
                <a:rPr sz="1076" b="0">
                  <a:solidFill>
                    <a:srgbClr val="000000"/>
                  </a:solidFill>
                  <a:latin typeface="Source Sans Pro"/>
                </a:rPr>
                <a:t> column by binning customer ages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81590" y="4552949"/>
              <a:ext cx="495287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076" b="0">
                  <a:solidFill>
                    <a:srgbClr val="000000"/>
                  </a:solidFill>
                  <a:latin typeface="Source Sans Pro"/>
                </a:rPr>
                <a:t>Generated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purchase_frequency_days</a:t>
              </a:r>
              <a:r>
                <a:rPr sz="1076" b="0">
                  <a:solidFill>
                    <a:srgbClr val="000000"/>
                  </a:solidFill>
                  <a:latin typeface="Source Sans Pro"/>
                </a:rPr>
                <a:t> from purchase data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81590" y="4886325"/>
              <a:ext cx="4952876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650"/>
                </a:spcAft>
              </a:pPr>
              <a:r>
                <a:rPr sz="1076" b="0">
                  <a:solidFill>
                    <a:srgbClr val="000000"/>
                  </a:solidFill>
                  <a:latin typeface="Source Sans Pro"/>
                </a:rPr>
                <a:t>Performed data consistency checks across columns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6381590" y="5267324"/>
              <a:ext cx="4952876" cy="695325"/>
            </a:xfrm>
            <a:prstGeom prst="roundRect">
              <a:avLst>
                <a:gd name="adj" fmla="val 10958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381590" y="5267324"/>
              <a:ext cx="4952876" cy="695325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df['age_group'] = pd.cut(df['age'], bins=[0, 25, 40, 60, 100], labels=['Young', 'Adult', 'Middle', 'Senior'])</a:t>
              </a:r>
            </a:p>
          </p:txBody>
        </p:sp>
      </p:grpSp>
      <p:sp>
        <p:nvSpPr>
          <p:cNvPr id="47" name="Footer Placeholder 46">
            <a:extLst>
              <a:ext uri="{FF2B5EF4-FFF2-40B4-BE49-F238E27FC236}">
                <a16:creationId xmlns:a16="http://schemas.microsoft.com/office/drawing/2014/main" id="{89F979D2-E159-383E-E4E0-B13EF544B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Exploratory Data Analysis (Python)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D224D28-30F4-86D2-8062-B7ED1688116B}"/>
              </a:ext>
            </a:extLst>
          </p:cNvPr>
          <p:cNvGrpSpPr/>
          <p:nvPr/>
        </p:nvGrpSpPr>
        <p:grpSpPr>
          <a:xfrm>
            <a:off x="431350" y="971551"/>
            <a:ext cx="5841631" cy="3669276"/>
            <a:chOff x="666733" y="1143000"/>
            <a:chExt cx="6343491" cy="4448175"/>
          </a:xfrm>
        </p:grpSpPr>
        <p:sp>
          <p:nvSpPr>
            <p:cNvPr id="4" name="Rounded Rectangle 3"/>
            <p:cNvSpPr/>
            <p:nvPr/>
          </p:nvSpPr>
          <p:spPr>
            <a:xfrm>
              <a:off x="666733" y="1143000"/>
              <a:ext cx="6343491" cy="4448175"/>
            </a:xfrm>
            <a:prstGeom prst="roundRect">
              <a:avLst>
                <a:gd name="adj" fmla="val 3426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04852" y="1430820"/>
              <a:ext cx="457188" cy="35780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504912" y="1466849"/>
              <a:ext cx="1971625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Analysis Techniques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4852" y="2028825"/>
              <a:ext cx="2866953" cy="1495424"/>
            </a:xfrm>
            <a:prstGeom prst="roundRect">
              <a:avLst>
                <a:gd name="adj" fmla="val 5095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 Same Side Corner Rectangle 7"/>
            <p:cNvSpPr/>
            <p:nvPr/>
          </p:nvSpPr>
          <p:spPr>
            <a:xfrm rot="16200000">
              <a:off x="223180" y="2710497"/>
              <a:ext cx="1495424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85822" y="2171700"/>
              <a:ext cx="2543111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Summary Statistics </a:t>
              </a:r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85822" y="2210360"/>
              <a:ext cx="190495" cy="151279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85822" y="2486025"/>
              <a:ext cx="2543111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Descriptive statistics for numerical and categorical variables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085822" y="2971800"/>
              <a:ext cx="2543111" cy="409574"/>
            </a:xfrm>
            <a:prstGeom prst="roundRect">
              <a:avLst>
                <a:gd name="adj" fmla="val 18604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85822" y="2971800"/>
              <a:ext cx="2543111" cy="4095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df.describe().T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905152" y="2028825"/>
              <a:ext cx="2866953" cy="1495424"/>
            </a:xfrm>
            <a:prstGeom prst="roundRect">
              <a:avLst>
                <a:gd name="adj" fmla="val 5095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 Same Side Corner Rectangle 14"/>
            <p:cNvSpPr/>
            <p:nvPr/>
          </p:nvSpPr>
          <p:spPr>
            <a:xfrm rot="16200000">
              <a:off x="3223480" y="2710497"/>
              <a:ext cx="1495424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95647" y="2171700"/>
              <a:ext cx="2543111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Data Visualization </a:t>
              </a:r>
            </a:p>
          </p:txBody>
        </p:sp>
        <p:pic>
          <p:nvPicPr>
            <p:cNvPr id="17" name="Picture 16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95647" y="2224367"/>
              <a:ext cx="190495" cy="12326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4095647" y="2486025"/>
              <a:ext cx="2543111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Distribution plots, histograms, and count plots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095647" y="2971800"/>
              <a:ext cx="2543111" cy="409574"/>
            </a:xfrm>
            <a:prstGeom prst="roundRect">
              <a:avLst>
                <a:gd name="adj" fmla="val 18604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095647" y="2971800"/>
              <a:ext cx="2543111" cy="4095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sns.countplot(x='category', data=df)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04852" y="3667124"/>
              <a:ext cx="2866953" cy="1495424"/>
            </a:xfrm>
            <a:prstGeom prst="roundRect">
              <a:avLst>
                <a:gd name="adj" fmla="val 5095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 Same Side Corner Rectangle 21"/>
            <p:cNvSpPr/>
            <p:nvPr/>
          </p:nvSpPr>
          <p:spPr>
            <a:xfrm rot="16200000">
              <a:off x="223180" y="4348796"/>
              <a:ext cx="1495424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85822" y="3809999"/>
              <a:ext cx="2543111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Correlation Analysis </a:t>
              </a:r>
            </a:p>
          </p:txBody>
        </p:sp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85822" y="3862667"/>
              <a:ext cx="190495" cy="123264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085822" y="4124324"/>
              <a:ext cx="2543111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Heatmap to identify relationships between variables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085822" y="4610099"/>
              <a:ext cx="2543111" cy="409574"/>
            </a:xfrm>
            <a:prstGeom prst="roundRect">
              <a:avLst>
                <a:gd name="adj" fmla="val 18604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85822" y="4610099"/>
              <a:ext cx="2543111" cy="4095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sns.heatmap(df.corr(), annot=True)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905152" y="3667124"/>
              <a:ext cx="2866953" cy="1495424"/>
            </a:xfrm>
            <a:prstGeom prst="roundRect">
              <a:avLst>
                <a:gd name="adj" fmla="val 5095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 Same Side Corner Rectangle 28"/>
            <p:cNvSpPr/>
            <p:nvPr/>
          </p:nvSpPr>
          <p:spPr>
            <a:xfrm rot="16200000">
              <a:off x="3223480" y="4348796"/>
              <a:ext cx="1495424" cy="1320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95647" y="3809999"/>
              <a:ext cx="2543111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Customer Segmentation </a:t>
              </a:r>
            </a:p>
          </p:txBody>
        </p:sp>
        <p:pic>
          <p:nvPicPr>
            <p:cNvPr id="31" name="Picture 30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95647" y="3862667"/>
              <a:ext cx="190495" cy="123264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4095647" y="4124324"/>
              <a:ext cx="2543111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Grouping by demographics and purchase behavior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095647" y="4610099"/>
              <a:ext cx="2543111" cy="409574"/>
            </a:xfrm>
            <a:prstGeom prst="roundRect">
              <a:avLst>
                <a:gd name="adj" fmla="val 18604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95647" y="4610099"/>
              <a:ext cx="2543111" cy="4095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325"/>
                </a:spcBef>
                <a:spcAft>
                  <a:spcPts val="0"/>
                </a:spcAft>
              </a:pPr>
              <a:r>
                <a:rPr sz="956" b="0">
                  <a:solidFill>
                    <a:srgbClr val="333333"/>
                  </a:solidFill>
                </a:rPr>
                <a:t>df.groupby('gender')['purchase_amount'].mean()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545411" y="4755127"/>
            <a:ext cx="4946895" cy="983850"/>
          </a:xfrm>
          <a:prstGeom prst="roundRect">
            <a:avLst>
              <a:gd name="adj" fmla="val 528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90A368F-D183-E983-F9AC-BF9F5C871A30}"/>
              </a:ext>
            </a:extLst>
          </p:cNvPr>
          <p:cNvGrpSpPr/>
          <p:nvPr/>
        </p:nvGrpSpPr>
        <p:grpSpPr>
          <a:xfrm>
            <a:off x="601568" y="4791778"/>
            <a:ext cx="5867253" cy="857250"/>
            <a:chOff x="904852" y="6054586"/>
            <a:chExt cx="5867253" cy="1203463"/>
          </a:xfrm>
        </p:grpSpPr>
        <p:pic>
          <p:nvPicPr>
            <p:cNvPr id="36" name="Picture 35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04852" y="6054586"/>
              <a:ext cx="457188" cy="387626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904852" y="6667499"/>
              <a:ext cx="5867253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076" b="1">
                  <a:solidFill>
                    <a:srgbClr val="4ECDC4"/>
                  </a:solidFill>
                  <a:latin typeface="Source Sans Pro"/>
                </a:rPr>
                <a:t>Age distribution</a:t>
              </a:r>
              <a:r>
                <a:rPr sz="1076" b="0">
                  <a:solidFill>
                    <a:srgbClr val="000000"/>
                  </a:solidFill>
                  <a:latin typeface="Source Sans Pro"/>
                </a:rPr>
                <a:t> shows highest concentration in 25-45 age group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04852" y="7019925"/>
              <a:ext cx="5867253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076" b="1">
                  <a:solidFill>
                    <a:srgbClr val="4ECDC4"/>
                  </a:solidFill>
                  <a:latin typeface="Source Sans Pro"/>
                </a:rPr>
                <a:t>Purchase amount</a:t>
              </a:r>
              <a:r>
                <a:rPr sz="1076" b="0">
                  <a:solidFill>
                    <a:srgbClr val="000000"/>
                  </a:solidFill>
                  <a:latin typeface="Source Sans Pro"/>
                </a:rPr>
                <a:t> varies significantly across product categories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904852" y="7372350"/>
            <a:ext cx="586725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ECDC4"/>
                </a:solidFill>
                <a:latin typeface="Source Sans Pro"/>
              </a:rPr>
              <a:t>Discount usage</a:t>
            </a:r>
            <a:r>
              <a:rPr sz="1076" b="0">
                <a:solidFill>
                  <a:srgbClr val="000000"/>
                </a:solidFill>
                <a:latin typeface="Source Sans Pro"/>
              </a:rPr>
              <a:t> correlates with higher purchase frequency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852" y="7724774"/>
            <a:ext cx="586725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ECDC4"/>
                </a:solidFill>
                <a:latin typeface="Source Sans Pro"/>
              </a:rPr>
              <a:t>Review ratings</a:t>
            </a:r>
            <a:r>
              <a:rPr sz="1076" b="0">
                <a:solidFill>
                  <a:srgbClr val="000000"/>
                </a:solidFill>
                <a:latin typeface="Source Sans Pro"/>
              </a:rPr>
              <a:t> show minimal variation across seasons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852" y="8077199"/>
            <a:ext cx="5867253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ECDC4"/>
                </a:solidFill>
                <a:latin typeface="Source Sans Pro"/>
              </a:rPr>
              <a:t>Subscription status</a:t>
            </a:r>
            <a:r>
              <a:rPr sz="1076" b="0">
                <a:solidFill>
                  <a:srgbClr val="000000"/>
                </a:solidFill>
                <a:latin typeface="Source Sans Pro"/>
              </a:rPr>
              <a:t> impacts average purchase amount by 18%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0FE3A34-7232-6E36-1B86-707452451FE8}"/>
              </a:ext>
            </a:extLst>
          </p:cNvPr>
          <p:cNvGrpSpPr/>
          <p:nvPr/>
        </p:nvGrpSpPr>
        <p:grpSpPr>
          <a:xfrm>
            <a:off x="7295967" y="1143000"/>
            <a:ext cx="3421194" cy="2947219"/>
            <a:chOff x="7295967" y="1143000"/>
            <a:chExt cx="4228994" cy="4981574"/>
          </a:xfrm>
        </p:grpSpPr>
        <p:sp>
          <p:nvSpPr>
            <p:cNvPr id="42" name="Rounded Rectangle 41"/>
            <p:cNvSpPr/>
            <p:nvPr/>
          </p:nvSpPr>
          <p:spPr>
            <a:xfrm>
              <a:off x="7295967" y="1143000"/>
              <a:ext cx="4228994" cy="4981574"/>
            </a:xfrm>
            <a:prstGeom prst="roundRect">
              <a:avLst>
                <a:gd name="adj" fmla="val 3603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534086" y="1287573"/>
              <a:ext cx="3752756" cy="313163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315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315" b="1">
                  <a:solidFill>
                    <a:srgbClr val="103652"/>
                  </a:solidFill>
                  <a:latin typeface="Source Sans Pro"/>
                </a:rPr>
                <a:t> Purchase Distribution by Category </a:t>
              </a:r>
            </a:p>
          </p:txBody>
        </p:sp>
        <p:pic>
          <p:nvPicPr>
            <p:cNvPr id="44" name="Picture 43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34086" y="1423858"/>
              <a:ext cx="209544" cy="181232"/>
            </a:xfrm>
            <a:prstGeom prst="rect">
              <a:avLst/>
            </a:prstGeom>
          </p:spPr>
        </p:pic>
        <p:sp>
          <p:nvSpPr>
            <p:cNvPr id="45" name="Rounded Rectangle 44"/>
            <p:cNvSpPr/>
            <p:nvPr/>
          </p:nvSpPr>
          <p:spPr>
            <a:xfrm>
              <a:off x="7534086" y="1790700"/>
              <a:ext cx="3752756" cy="4095749"/>
            </a:xfrm>
            <a:prstGeom prst="roundRect">
              <a:avLst>
                <a:gd name="adj" fmla="val 2030"/>
              </a:avLst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534086" y="1790700"/>
              <a:ext cx="3752756" cy="4095749"/>
            </a:xfrm>
            <a:prstGeom prst="rect">
              <a:avLst/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534086" y="5314950"/>
              <a:ext cx="3752756" cy="571500"/>
            </a:xfrm>
            <a:prstGeom prst="rect">
              <a:avLst/>
            </a:prstGeom>
            <a:solidFill>
              <a:srgbClr val="103652">
                <a:alpha val="8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534086" y="5454111"/>
              <a:ext cx="3752756" cy="257891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FFFFFF"/>
                  </a:solidFill>
                  <a:latin typeface="Source Sans Pro"/>
                </a:rPr>
                <a:t>Category analysis reveals clothing and accessories as top performers</a:t>
              </a:r>
            </a:p>
          </p:txBody>
        </p:sp>
      </p:grpSp>
      <p:sp>
        <p:nvSpPr>
          <p:cNvPr id="49" name="Rounded Rectangle 48"/>
          <p:cNvSpPr/>
          <p:nvPr/>
        </p:nvSpPr>
        <p:spPr>
          <a:xfrm>
            <a:off x="7295967" y="4377440"/>
            <a:ext cx="3902975" cy="1252027"/>
          </a:xfrm>
          <a:prstGeom prst="roundRect">
            <a:avLst>
              <a:gd name="adj" fmla="val 5992"/>
            </a:avLst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D4F65AF-C666-731C-D257-6BAE096EE2A7}"/>
              </a:ext>
            </a:extLst>
          </p:cNvPr>
          <p:cNvGrpSpPr/>
          <p:nvPr/>
        </p:nvGrpSpPr>
        <p:grpSpPr>
          <a:xfrm>
            <a:off x="7534086" y="4748738"/>
            <a:ext cx="3752756" cy="847725"/>
            <a:chOff x="7534086" y="6553199"/>
            <a:chExt cx="3752756" cy="847725"/>
          </a:xfrm>
        </p:grpSpPr>
        <p:sp>
          <p:nvSpPr>
            <p:cNvPr id="50" name="TextBox 49"/>
            <p:cNvSpPr txBox="1"/>
            <p:nvPr/>
          </p:nvSpPr>
          <p:spPr>
            <a:xfrm>
              <a:off x="7534086" y="6553199"/>
              <a:ext cx="3752756" cy="2666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315" b="1" dirty="0">
                  <a:solidFill>
                    <a:srgbClr val="FFFFFF"/>
                  </a:solidFill>
                  <a:latin typeface="Source Sans Pro"/>
                </a:rPr>
                <a:t> </a:t>
              </a:r>
              <a:r>
                <a:rPr sz="1104" dirty="0"/>
                <a:t>  </a:t>
              </a:r>
              <a:r>
                <a:rPr sz="1315" b="1" dirty="0">
                  <a:solidFill>
                    <a:srgbClr val="FFFFFF"/>
                  </a:solidFill>
                  <a:latin typeface="Source Sans Pro"/>
                </a:rPr>
                <a:t> Behavioral Insights </a:t>
              </a:r>
            </a:p>
          </p:txBody>
        </p:sp>
        <p:pic>
          <p:nvPicPr>
            <p:cNvPr id="51" name="Picture 50" descr="image.png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534086" y="6604429"/>
              <a:ext cx="209544" cy="164241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7534086" y="6962775"/>
              <a:ext cx="3752756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076" b="0">
                  <a:solidFill>
                    <a:srgbClr val="FFFFFF"/>
                  </a:solidFill>
                  <a:latin typeface="Source Sans Pro"/>
                </a:rPr>
                <a:t>Customers with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subscriptions</a:t>
              </a:r>
              <a:r>
                <a:rPr sz="1076" b="0">
                  <a:solidFill>
                    <a:srgbClr val="FFFFFF"/>
                  </a:solidFill>
                  <a:latin typeface="Source Sans Pro"/>
                </a:rPr>
                <a:t> show 25% higher loyalty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7534086" y="7515225"/>
            <a:ext cx="375275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ECDC4"/>
                </a:solidFill>
                <a:latin typeface="Source Sans Pro"/>
              </a:rPr>
              <a:t>Express shipping</a:t>
            </a:r>
            <a:r>
              <a:rPr sz="1076" b="0">
                <a:solidFill>
                  <a:srgbClr val="FFFFFF"/>
                </a:solidFill>
                <a:latin typeface="Source Sans Pro"/>
              </a:rPr>
              <a:t> users spend 15% more per transaction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4086" y="8067674"/>
            <a:ext cx="375275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4ECDC4"/>
                </a:solidFill>
                <a:latin typeface="Source Sans Pro"/>
              </a:rPr>
              <a:t>Discount sensitivity</a:t>
            </a:r>
            <a:r>
              <a:rPr sz="1076" b="0">
                <a:solidFill>
                  <a:srgbClr val="FFFFFF"/>
                </a:solidFill>
                <a:latin typeface="Source Sans Pro"/>
              </a:rPr>
              <a:t> varies by age group and gender</a:t>
            </a:r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76B8FD82-D103-91B4-59AE-49A56806B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SQL Analysis &amp; Key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1085822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</a:rPr>
              <a:t>We performed structured analysis in PostgreSQL to answer </a:t>
            </a:r>
            <a:r>
              <a:rPr sz="1196" b="1">
                <a:solidFill>
                  <a:srgbClr val="4ECDC4"/>
                </a:solidFill>
                <a:latin typeface="Source Sans Pro"/>
              </a:rPr>
              <a:t>10 key business questions</a:t>
            </a:r>
            <a:r>
              <a:rPr sz="1196" b="0">
                <a:solidFill>
                  <a:srgbClr val="333333"/>
                </a:solidFill>
                <a:latin typeface="Source Sans Pro"/>
              </a:rPr>
              <a:t> about customer behavior and purchasing patterns.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4B15A7B-E245-5A8F-0A27-60A6C72E356C}"/>
              </a:ext>
            </a:extLst>
          </p:cNvPr>
          <p:cNvGrpSpPr/>
          <p:nvPr/>
        </p:nvGrpSpPr>
        <p:grpSpPr>
          <a:xfrm>
            <a:off x="666733" y="1471244"/>
            <a:ext cx="4052751" cy="4310430"/>
            <a:chOff x="666733" y="1619250"/>
            <a:chExt cx="5333866" cy="6210299"/>
          </a:xfrm>
        </p:grpSpPr>
        <p:sp>
          <p:nvSpPr>
            <p:cNvPr id="5" name="Rounded Rectangle 4"/>
            <p:cNvSpPr/>
            <p:nvPr/>
          </p:nvSpPr>
          <p:spPr>
            <a:xfrm>
              <a:off x="666733" y="1619250"/>
              <a:ext cx="5333866" cy="1133475"/>
            </a:xfrm>
            <a:prstGeom prst="roundRect">
              <a:avLst>
                <a:gd name="adj" fmla="val 1344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57228" y="1809749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81090" y="1809749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Revenue by Gender </a:t>
              </a:r>
            </a:p>
          </p:txBody>
        </p:sp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381090" y="1862417"/>
              <a:ext cx="190495" cy="123264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381090" y="2124075"/>
              <a:ext cx="4429014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Compared total revenue generated by male vs. female customers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66733" y="2943225"/>
              <a:ext cx="5333866" cy="1133475"/>
            </a:xfrm>
            <a:prstGeom prst="roundRect">
              <a:avLst>
                <a:gd name="adj" fmla="val 1344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7228" y="3133724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81090" y="3133724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Top 5 Products by Rating </a:t>
              </a:r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1090" y="3179108"/>
              <a:ext cx="190495" cy="156882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381090" y="3448049"/>
              <a:ext cx="4429014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Found products with the highest average review ratings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66733" y="4267199"/>
              <a:ext cx="5333866" cy="1133475"/>
            </a:xfrm>
            <a:prstGeom prst="roundRect">
              <a:avLst>
                <a:gd name="adj" fmla="val 1344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57228" y="4457700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5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81090" y="4457700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Subscribers vs. Non-Subscribers </a:t>
              </a:r>
            </a:p>
          </p:txBody>
        </p:sp>
        <p:pic>
          <p:nvPicPr>
            <p:cNvPr id="28" name="Picture 27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81090" y="4490757"/>
              <a:ext cx="190495" cy="16248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381090" y="4772025"/>
              <a:ext cx="4429014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Compared average spend and revenue across subscription status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666733" y="5591175"/>
              <a:ext cx="5333866" cy="91440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57228" y="5781674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7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81090" y="5781674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Customer Segmentation </a:t>
              </a:r>
            </a:p>
          </p:txBody>
        </p:sp>
        <p:pic>
          <p:nvPicPr>
            <p:cNvPr id="38" name="Picture 37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81090" y="5852272"/>
              <a:ext cx="190495" cy="106455"/>
            </a:xfrm>
            <a:prstGeom prst="rect">
              <a:avLst/>
            </a:prstGeom>
          </p:spPr>
        </p:pic>
        <p:sp>
          <p:nvSpPr>
            <p:cNvPr id="43" name="Rounded Rectangle 42"/>
            <p:cNvSpPr/>
            <p:nvPr/>
          </p:nvSpPr>
          <p:spPr>
            <a:xfrm>
              <a:off x="666733" y="6696074"/>
              <a:ext cx="5333866" cy="1133475"/>
            </a:xfrm>
            <a:prstGeom prst="roundRect">
              <a:avLst>
                <a:gd name="adj" fmla="val 1344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57228" y="6886575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9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381090" y="6886575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Repeat Buyers &amp; Subscriptions </a:t>
              </a:r>
            </a:p>
          </p:txBody>
        </p:sp>
        <p:pic>
          <p:nvPicPr>
            <p:cNvPr id="46" name="Picture 45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381090" y="6929157"/>
              <a:ext cx="190495" cy="162485"/>
            </a:xfrm>
            <a:prstGeom prst="rect">
              <a:avLst/>
            </a:prstGeom>
          </p:spPr>
        </p:pic>
      </p:grpSp>
      <p:sp>
        <p:nvSpPr>
          <p:cNvPr id="47" name="Rounded Rectangle 46"/>
          <p:cNvSpPr/>
          <p:nvPr/>
        </p:nvSpPr>
        <p:spPr>
          <a:xfrm>
            <a:off x="6314815" y="5350644"/>
            <a:ext cx="3792746" cy="685389"/>
          </a:xfrm>
          <a:prstGeom prst="roundRect">
            <a:avLst>
              <a:gd name="adj" fmla="val 134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1C20727-40E7-4304-3F95-8802AB5D9A03}"/>
              </a:ext>
            </a:extLst>
          </p:cNvPr>
          <p:cNvGrpSpPr/>
          <p:nvPr/>
        </p:nvGrpSpPr>
        <p:grpSpPr>
          <a:xfrm>
            <a:off x="6314815" y="1512272"/>
            <a:ext cx="3792745" cy="4269402"/>
            <a:chOff x="6191095" y="1619250"/>
            <a:chExt cx="5333866" cy="5695950"/>
          </a:xfrm>
        </p:grpSpPr>
        <p:sp>
          <p:nvSpPr>
            <p:cNvPr id="10" name="Rounded Rectangle 9"/>
            <p:cNvSpPr/>
            <p:nvPr/>
          </p:nvSpPr>
          <p:spPr>
            <a:xfrm>
              <a:off x="6191095" y="1619250"/>
              <a:ext cx="5333866" cy="1133475"/>
            </a:xfrm>
            <a:prstGeom prst="roundRect">
              <a:avLst>
                <a:gd name="adj" fmla="val 1344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81590" y="1809749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905452" y="1809749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High-Spending Discount Users </a:t>
              </a: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905452" y="1842807"/>
              <a:ext cx="190495" cy="162485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6905452" y="2124075"/>
              <a:ext cx="4429014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Identified customers who used discounts but spent above average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191095" y="2943225"/>
              <a:ext cx="5333866" cy="1133475"/>
            </a:xfrm>
            <a:prstGeom prst="roundRect">
              <a:avLst>
                <a:gd name="adj" fmla="val 1344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81590" y="3133724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4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05452" y="3133724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Shipping Type Comparison </a:t>
              </a:r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905452" y="3187513"/>
              <a:ext cx="190495" cy="140073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6905452" y="3448049"/>
              <a:ext cx="4429014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Compared average purchase amounts between Standard and Express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191095" y="4267199"/>
              <a:ext cx="5333866" cy="1133475"/>
            </a:xfrm>
            <a:prstGeom prst="roundRect">
              <a:avLst>
                <a:gd name="adj" fmla="val 13445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381590" y="4457700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6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905452" y="4457700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Discount-Dependent Products </a:t>
              </a:r>
            </a:p>
          </p:txBody>
        </p:sp>
        <p:pic>
          <p:nvPicPr>
            <p:cNvPr id="33" name="Picture 32" descr="image.png"/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905452" y="4501963"/>
              <a:ext cx="190495" cy="140073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6905452" y="4772025"/>
              <a:ext cx="4429014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555555"/>
                  </a:solidFill>
                  <a:latin typeface="Source Sans Pro"/>
                </a:rPr>
                <a:t>Identified 5 products with highest percentage of discounted purchases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6191095" y="5591175"/>
              <a:ext cx="5333866" cy="91440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381590" y="5781674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8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905452" y="5781674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Top 3 Products per Category </a:t>
              </a:r>
            </a:p>
          </p:txBody>
        </p:sp>
        <p:pic>
          <p:nvPicPr>
            <p:cNvPr id="42" name="Picture 41" descr="image.png"/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905452" y="5824257"/>
              <a:ext cx="190495" cy="16248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6381590" y="6886575"/>
              <a:ext cx="380990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10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05452" y="6886575"/>
              <a:ext cx="442901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1">
                  <a:solidFill>
                    <a:srgbClr val="103652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196" b="1">
                  <a:solidFill>
                    <a:srgbClr val="103652"/>
                  </a:solidFill>
                  <a:latin typeface="Source Sans Pro"/>
                </a:rPr>
                <a:t> Revenue by Age Group </a:t>
              </a:r>
            </a:p>
          </p:txBody>
        </p:sp>
        <p:pic>
          <p:nvPicPr>
            <p:cNvPr id="50" name="Picture 49" descr="image.png"/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905452" y="6922153"/>
              <a:ext cx="190495" cy="176492"/>
            </a:xfrm>
            <a:prstGeom prst="rect">
              <a:avLst/>
            </a:prstGeom>
          </p:spPr>
        </p:pic>
      </p:grpSp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08927239-5510-0590-574B-592B3294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Key Insights from Analysis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7B3EB8-3A4D-D806-C95F-150526EABD7B}"/>
              </a:ext>
            </a:extLst>
          </p:cNvPr>
          <p:cNvGrpSpPr/>
          <p:nvPr/>
        </p:nvGrpSpPr>
        <p:grpSpPr>
          <a:xfrm>
            <a:off x="666733" y="1143000"/>
            <a:ext cx="3914678" cy="2286000"/>
            <a:chOff x="666733" y="1143000"/>
            <a:chExt cx="5286242" cy="3762374"/>
          </a:xfrm>
        </p:grpSpPr>
        <p:sp>
          <p:nvSpPr>
            <p:cNvPr id="4" name="Rounded Rectangle 3"/>
            <p:cNvSpPr/>
            <p:nvPr/>
          </p:nvSpPr>
          <p:spPr>
            <a:xfrm>
              <a:off x="666733" y="1143000"/>
              <a:ext cx="5286242" cy="3762374"/>
            </a:xfrm>
            <a:prstGeom prst="roundRect">
              <a:avLst>
                <a:gd name="adj" fmla="val 5063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04852" y="1485485"/>
              <a:ext cx="457188" cy="24847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504912" y="1466849"/>
              <a:ext cx="2371665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Customer Segmentation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04852" y="1981199"/>
              <a:ext cx="657208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32%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04932" y="2076449"/>
              <a:ext cx="400992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  <a:latin typeface="Source Sans Pro"/>
                </a:rPr>
                <a:t>of customers classified as </a:t>
              </a:r>
              <a:r>
                <a:rPr sz="1196" b="1">
                  <a:solidFill>
                    <a:srgbClr val="4ECDC4"/>
                  </a:solidFill>
                  <a:latin typeface="Source Sans Pro"/>
                </a:rPr>
                <a:t>Loyal</a:t>
              </a:r>
              <a:r>
                <a:rPr sz="1196" b="0">
                  <a:solidFill>
                    <a:srgbClr val="333333"/>
                  </a:solidFill>
                  <a:latin typeface="Source Sans Pro"/>
                </a:rPr>
                <a:t> segment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04852" y="2619374"/>
              <a:ext cx="481000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0">
                  <a:solidFill>
                    <a:srgbClr val="000000"/>
                  </a:solidFill>
                  <a:latin typeface="Source Sans Pro"/>
                </a:rPr>
                <a:t>Loyal customers spend </a:t>
              </a:r>
              <a:r>
                <a:rPr sz="1196" b="1">
                  <a:solidFill>
                    <a:srgbClr val="4ECDC4"/>
                  </a:solidFill>
                  <a:latin typeface="Source Sans Pro"/>
                </a:rPr>
                <a:t>45% more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per transaction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04852" y="3000375"/>
              <a:ext cx="481000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0">
                  <a:solidFill>
                    <a:srgbClr val="000000"/>
                  </a:solidFill>
                  <a:latin typeface="Source Sans Pro"/>
                </a:rPr>
                <a:t>New customers have </a:t>
              </a:r>
              <a:r>
                <a:rPr sz="1196" b="1">
                  <a:solidFill>
                    <a:srgbClr val="4ECDC4"/>
                  </a:solidFill>
                  <a:latin typeface="Source Sans Pro"/>
                </a:rPr>
                <a:t>highest discount usage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(68%)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04852" y="3381375"/>
              <a:ext cx="481000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0">
                  <a:solidFill>
                    <a:srgbClr val="000000"/>
                  </a:solidFill>
                  <a:latin typeface="Source Sans Pro"/>
                </a:rPr>
                <a:t>Returning customers show </a:t>
              </a:r>
              <a:r>
                <a:rPr sz="1196" b="1">
                  <a:solidFill>
                    <a:srgbClr val="4ECDC4"/>
                  </a:solidFill>
                  <a:latin typeface="Source Sans Pro"/>
                </a:rPr>
                <a:t>strongest seasonality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400633" y="3613231"/>
            <a:ext cx="4653148" cy="109642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B118DB-ED96-AB10-A348-8907912A26C6}"/>
              </a:ext>
            </a:extLst>
          </p:cNvPr>
          <p:cNvGrpSpPr/>
          <p:nvPr/>
        </p:nvGrpSpPr>
        <p:grpSpPr>
          <a:xfrm>
            <a:off x="1012353" y="3996159"/>
            <a:ext cx="2800279" cy="387626"/>
            <a:chOff x="904852" y="5368786"/>
            <a:chExt cx="2800279" cy="387626"/>
          </a:xfrm>
        </p:grpSpPr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4852" y="5368786"/>
              <a:ext cx="457188" cy="387626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504912" y="5410199"/>
              <a:ext cx="220021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 dirty="0">
                  <a:solidFill>
                    <a:srgbClr val="103652"/>
                  </a:solidFill>
                  <a:latin typeface="Source Sans Pro"/>
                </a:rPr>
                <a:t>Discount Effectiveness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E37915-EC96-CDC8-9EF4-2602261A58C0}"/>
              </a:ext>
            </a:extLst>
          </p:cNvPr>
          <p:cNvGrpSpPr/>
          <p:nvPr/>
        </p:nvGrpSpPr>
        <p:grpSpPr>
          <a:xfrm>
            <a:off x="6705432" y="1047749"/>
            <a:ext cx="5110211" cy="3392970"/>
            <a:chOff x="6238719" y="1143000"/>
            <a:chExt cx="5286242" cy="4714875"/>
          </a:xfrm>
        </p:grpSpPr>
        <p:sp>
          <p:nvSpPr>
            <p:cNvPr id="15" name="Rounded Rectangle 14"/>
            <p:cNvSpPr/>
            <p:nvPr/>
          </p:nvSpPr>
          <p:spPr>
            <a:xfrm>
              <a:off x="6238719" y="1143000"/>
              <a:ext cx="5286242" cy="4714875"/>
            </a:xfrm>
            <a:prstGeom prst="roundRect">
              <a:avLst>
                <a:gd name="adj" fmla="val 404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6838" y="1485485"/>
              <a:ext cx="457188" cy="248478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076898" y="1466849"/>
              <a:ext cx="2552636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Purchase Behavior Trends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76838" y="1981199"/>
              <a:ext cx="657208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52" b="1">
                  <a:solidFill>
                    <a:srgbClr val="4ECDC4"/>
                  </a:solidFill>
                  <a:latin typeface="Source Sans Pro"/>
                </a:rPr>
                <a:t>42%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76918" y="2076449"/>
              <a:ext cx="4009924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  <a:latin typeface="Source Sans Pro"/>
                </a:rPr>
                <a:t>of revenue from </a:t>
              </a:r>
              <a:r>
                <a:rPr sz="1196" b="1">
                  <a:solidFill>
                    <a:srgbClr val="4ECDC4"/>
                  </a:solidFill>
                  <a:latin typeface="Source Sans Pro"/>
                </a:rPr>
                <a:t>repeat customers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76838" y="2619374"/>
              <a:ext cx="481000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Winter season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shows highest average purchase value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76838" y="3000375"/>
              <a:ext cx="481000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Apparel category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drives most frequent purchases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76838" y="3381375"/>
              <a:ext cx="481000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Subscription status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strongly correlates with loyalty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76838" y="3905249"/>
              <a:ext cx="4810004" cy="1714500"/>
            </a:xfrm>
            <a:prstGeom prst="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E35F7E22-1F2E-4B6B-5354-F25BA248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C105833C-5822-EA6B-03FC-3C7FF4F32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139" y="956941"/>
            <a:ext cx="6569124" cy="379855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Power BI Dashboard Highlights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E7BDA3C-3AD8-374D-A91E-411502DC6297}"/>
              </a:ext>
            </a:extLst>
          </p:cNvPr>
          <p:cNvGrpSpPr/>
          <p:nvPr/>
        </p:nvGrpSpPr>
        <p:grpSpPr>
          <a:xfrm>
            <a:off x="666733" y="1143000"/>
            <a:ext cx="3708622" cy="1600200"/>
            <a:chOff x="666733" y="1143000"/>
            <a:chExt cx="4810004" cy="2552700"/>
          </a:xfrm>
        </p:grpSpPr>
        <p:sp>
          <p:nvSpPr>
            <p:cNvPr id="4" name="Rounded Rectangle 3"/>
            <p:cNvSpPr/>
            <p:nvPr/>
          </p:nvSpPr>
          <p:spPr>
            <a:xfrm>
              <a:off x="666733" y="1143000"/>
              <a:ext cx="4810004" cy="2552700"/>
            </a:xfrm>
            <a:prstGeom prst="roundRect">
              <a:avLst>
                <a:gd name="adj" fmla="val 746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7228" y="1390650"/>
              <a:ext cx="457188" cy="3429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457288" y="1409699"/>
              <a:ext cx="1762080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Key Visualizations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57228" y="1981199"/>
              <a:ext cx="442901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Revenue heat map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by category and season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57228" y="2362199"/>
              <a:ext cx="442901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Customer journey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funnel with conversion rates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7228" y="2743200"/>
              <a:ext cx="442901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Product performance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matrix with ratings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57228" y="3124200"/>
              <a:ext cx="442901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Demographic breakdown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of purchase behavior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3B94E04-0908-7953-E04B-9EBCF3E37BCF}"/>
              </a:ext>
            </a:extLst>
          </p:cNvPr>
          <p:cNvGrpSpPr/>
          <p:nvPr/>
        </p:nvGrpSpPr>
        <p:grpSpPr>
          <a:xfrm>
            <a:off x="508954" y="3114447"/>
            <a:ext cx="3983925" cy="2066927"/>
            <a:chOff x="666733" y="3886200"/>
            <a:chExt cx="4810004" cy="3171825"/>
          </a:xfrm>
        </p:grpSpPr>
        <p:sp>
          <p:nvSpPr>
            <p:cNvPr id="11" name="Rounded Rectangle 10"/>
            <p:cNvSpPr/>
            <p:nvPr/>
          </p:nvSpPr>
          <p:spPr>
            <a:xfrm>
              <a:off x="666733" y="3886200"/>
              <a:ext cx="4810004" cy="3171825"/>
            </a:xfrm>
            <a:prstGeom prst="roundRect">
              <a:avLst>
                <a:gd name="adj" fmla="val 6006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57228" y="4181060"/>
              <a:ext cx="457188" cy="24847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1457288" y="4152899"/>
              <a:ext cx="1723981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Interactive Filters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7228" y="4724399"/>
              <a:ext cx="442901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Date range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selector for temporal analysis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7228" y="5105400"/>
              <a:ext cx="442901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Customer segment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toggles for targeted views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7228" y="5486400"/>
              <a:ext cx="4429014" cy="266699"/>
            </a:xfrm>
            <a:prstGeom prst="rect">
              <a:avLst/>
            </a:prstGeom>
            <a:noFill/>
          </p:spPr>
          <p:txBody>
            <a:bodyPr wrap="non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Product category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multi-select filters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57228" y="5962650"/>
              <a:ext cx="2143071" cy="904874"/>
            </a:xfrm>
            <a:prstGeom prst="roundRect">
              <a:avLst>
                <a:gd name="adj" fmla="val 16842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0099" y="6105525"/>
              <a:ext cx="1857328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325"/>
                </a:spcAft>
              </a:pPr>
              <a:r>
                <a:rPr sz="1913" b="1">
                  <a:solidFill>
                    <a:srgbClr val="4ECDC4"/>
                  </a:solidFill>
                  <a:latin typeface="Source Sans Pro"/>
                </a:rPr>
                <a:t>12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00099" y="6534150"/>
              <a:ext cx="1857328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555555"/>
                  </a:solidFill>
                  <a:latin typeface="Source Sans Pro"/>
                </a:rPr>
                <a:t>Filter Options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143171" y="5962650"/>
              <a:ext cx="2143071" cy="904874"/>
            </a:xfrm>
            <a:prstGeom prst="roundRect">
              <a:avLst>
                <a:gd name="adj" fmla="val 16842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86042" y="6105525"/>
              <a:ext cx="1857328" cy="3809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325"/>
                </a:spcAft>
              </a:pPr>
              <a:r>
                <a:rPr sz="1913" b="1">
                  <a:solidFill>
                    <a:srgbClr val="4ECDC4"/>
                  </a:solidFill>
                  <a:latin typeface="Source Sans Pro"/>
                </a:rPr>
                <a:t>8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86042" y="6534150"/>
              <a:ext cx="1857328" cy="19049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56" b="0">
                  <a:solidFill>
                    <a:srgbClr val="555555"/>
                  </a:solidFill>
                  <a:latin typeface="Source Sans Pro"/>
                </a:rPr>
                <a:t>Visual Elements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3090DD6-B91E-7347-64FF-ECFAC7E1E8FF}"/>
              </a:ext>
            </a:extLst>
          </p:cNvPr>
          <p:cNvGrpSpPr/>
          <p:nvPr/>
        </p:nvGrpSpPr>
        <p:grpSpPr>
          <a:xfrm>
            <a:off x="5030139" y="3747558"/>
            <a:ext cx="6569124" cy="1190625"/>
            <a:chOff x="5762480" y="3886200"/>
            <a:chExt cx="5762480" cy="1190625"/>
          </a:xfrm>
        </p:grpSpPr>
        <p:sp>
          <p:nvSpPr>
            <p:cNvPr id="24" name="Rectangle 23"/>
            <p:cNvSpPr/>
            <p:nvPr/>
          </p:nvSpPr>
          <p:spPr>
            <a:xfrm>
              <a:off x="5762480" y="3886200"/>
              <a:ext cx="5762480" cy="1190625"/>
            </a:xfrm>
            <a:prstGeom prst="rect">
              <a:avLst/>
            </a:pr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103652">
                    <a:alpha val="9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52976" y="4076699"/>
              <a:ext cx="5381490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FFFFFF"/>
                  </a:solidFill>
                  <a:latin typeface="Source Sans Pro"/>
                </a:rPr>
                <a:t> </a:t>
              </a:r>
              <a:r>
                <a:rPr sz="1104"/>
                <a:t>  </a:t>
              </a:r>
              <a:r>
                <a:rPr sz="1435" b="1">
                  <a:solidFill>
                    <a:srgbClr val="FFFFFF"/>
                  </a:solidFill>
                  <a:latin typeface="Source Sans Pro"/>
                </a:rPr>
                <a:t> Interactive Retail Analytics Dashboard </a:t>
              </a:r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952976" y="4140517"/>
              <a:ext cx="228594" cy="177164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5952976" y="4448175"/>
              <a:ext cx="5381490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FFFFFF"/>
                  </a:solidFill>
                  <a:latin typeface="Source Sans Pro"/>
                </a:rPr>
                <a:t>Real-time visualization of customer behavior patterns, purchase trends, and product performance metrics</a:t>
              </a:r>
            </a:p>
          </p:txBody>
        </p:sp>
      </p:grp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CEAD7340-06AA-4781-904C-F3E4D9AE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1085822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1315" b="0">
                <a:solidFill>
                  <a:srgbClr val="333333"/>
                </a:solidFill>
                <a:latin typeface="Source Sans Pro"/>
              </a:rPr>
              <a:t>Based on our analysis, here are the </a:t>
            </a:r>
            <a:r>
              <a:rPr sz="1315" b="1">
                <a:solidFill>
                  <a:srgbClr val="4ECDC4"/>
                </a:solidFill>
                <a:latin typeface="Source Sans Pro"/>
              </a:rPr>
              <a:t>5 key recommendations</a:t>
            </a:r>
            <a:r>
              <a:rPr sz="1315" b="0">
                <a:solidFill>
                  <a:srgbClr val="333333"/>
                </a:solidFill>
                <a:latin typeface="Source Sans Pro"/>
              </a:rPr>
              <a:t> to optimize business performance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BE73BCB-0640-2706-143D-C4543B23E9D8}"/>
              </a:ext>
            </a:extLst>
          </p:cNvPr>
          <p:cNvGrpSpPr/>
          <p:nvPr/>
        </p:nvGrpSpPr>
        <p:grpSpPr>
          <a:xfrm>
            <a:off x="666733" y="1695449"/>
            <a:ext cx="10188080" cy="2085975"/>
            <a:chOff x="666733" y="1695449"/>
            <a:chExt cx="10858228" cy="3000375"/>
          </a:xfrm>
        </p:grpSpPr>
        <p:sp>
          <p:nvSpPr>
            <p:cNvPr id="5" name="Rounded Rectangle 4"/>
            <p:cNvSpPr/>
            <p:nvPr/>
          </p:nvSpPr>
          <p:spPr>
            <a:xfrm>
              <a:off x="666733" y="1695449"/>
              <a:ext cx="3457488" cy="3000375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04852" y="1933574"/>
              <a:ext cx="666733" cy="666750"/>
            </a:xfrm>
            <a:prstGeom prst="roundRect">
              <a:avLst>
                <a:gd name="adj" fmla="val 50000"/>
              </a:avLst>
            </a:prstGeom>
            <a:solidFill>
              <a:srgbClr val="4ECDC4">
                <a:alpha val="1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66773" y="2122104"/>
              <a:ext cx="342891" cy="28969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904852" y="2743200"/>
              <a:ext cx="2981250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Boost Subscriptions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04852" y="3152775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Promote exclusive benefits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04852" y="3467100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Early access to new products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04852" y="3781424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Members-only discounts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04852" y="4238624"/>
              <a:ext cx="542911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777777"/>
                  </a:solidFill>
                  <a:latin typeface="Source Sans Pro"/>
                </a:rPr>
                <a:t>Impact: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43011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695407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847803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000199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152596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362340" y="1695449"/>
              <a:ext cx="3457488" cy="3000375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600459" y="1933574"/>
              <a:ext cx="666733" cy="666750"/>
            </a:xfrm>
            <a:prstGeom prst="roundRect">
              <a:avLst>
                <a:gd name="adj" fmla="val 50000"/>
              </a:avLst>
            </a:prstGeom>
            <a:solidFill>
              <a:srgbClr val="4ECDC4">
                <a:alpha val="1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62380" y="2122104"/>
              <a:ext cx="342891" cy="289691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600459" y="2743200"/>
              <a:ext cx="2981250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Customer Loyalty Programs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00459" y="3152775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Reward repeat buyers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00459" y="3467100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Tier-based benefits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00459" y="3781424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Points accumulation system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00459" y="4238624"/>
              <a:ext cx="542911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777777"/>
                  </a:solidFill>
                  <a:latin typeface="Source Sans Pro"/>
                </a:rPr>
                <a:t>Impact: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248143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400539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552936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705332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857728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067473" y="1695449"/>
              <a:ext cx="3457488" cy="3000375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305592" y="1933574"/>
              <a:ext cx="666733" cy="666750"/>
            </a:xfrm>
            <a:prstGeom prst="roundRect">
              <a:avLst>
                <a:gd name="adj" fmla="val 50000"/>
              </a:avLst>
            </a:prstGeom>
            <a:solidFill>
              <a:srgbClr val="4ECDC4">
                <a:alpha val="1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3" name="Picture 32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67513" y="2122104"/>
              <a:ext cx="342891" cy="289691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8305592" y="2743200"/>
              <a:ext cx="2981250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8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Review Discount Policy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05592" y="3152775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Balance sales with margins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05592" y="3467100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Targeted discount strategies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305592" y="3781424"/>
              <a:ext cx="2981250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Seasonal promotion calendar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305592" y="4238624"/>
              <a:ext cx="542911" cy="2190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777777"/>
                  </a:solidFill>
                  <a:latin typeface="Source Sans Pro"/>
                </a:rPr>
                <a:t>Impact: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8943751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9096147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48543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9400939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9553336" y="4286250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733C721-EF8A-5F84-EE2D-11175DC43A97}"/>
              </a:ext>
            </a:extLst>
          </p:cNvPr>
          <p:cNvGrpSpPr/>
          <p:nvPr/>
        </p:nvGrpSpPr>
        <p:grpSpPr>
          <a:xfrm>
            <a:off x="1363811" y="4055381"/>
            <a:ext cx="9027873" cy="2004785"/>
            <a:chOff x="666733" y="4933950"/>
            <a:chExt cx="10858228" cy="3000375"/>
          </a:xfrm>
        </p:grpSpPr>
        <p:sp>
          <p:nvSpPr>
            <p:cNvPr id="44" name="Rounded Rectangle 43"/>
            <p:cNvSpPr/>
            <p:nvPr/>
          </p:nvSpPr>
          <p:spPr>
            <a:xfrm>
              <a:off x="666733" y="4933950"/>
              <a:ext cx="5314817" cy="3000375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04852" y="5172075"/>
              <a:ext cx="666733" cy="666750"/>
            </a:xfrm>
            <a:prstGeom prst="roundRect">
              <a:avLst>
                <a:gd name="adj" fmla="val 50000"/>
              </a:avLst>
            </a:prstGeom>
            <a:solidFill>
              <a:srgbClr val="4ECDC4">
                <a:alpha val="1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6" name="Picture 45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66773" y="5360604"/>
              <a:ext cx="342891" cy="289691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904852" y="6391275"/>
              <a:ext cx="483857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Highlight top-rated products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04852" y="6705600"/>
              <a:ext cx="483857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Strategic product placement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04852" y="7019925"/>
              <a:ext cx="483857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Cross-selling opportunities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543011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695407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847803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2000199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2152596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6210144" y="4933950"/>
              <a:ext cx="5314817" cy="3000375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457788" y="5172075"/>
              <a:ext cx="666733" cy="666750"/>
            </a:xfrm>
            <a:prstGeom prst="roundRect">
              <a:avLst>
                <a:gd name="adj" fmla="val 50000"/>
              </a:avLst>
            </a:prstGeom>
            <a:solidFill>
              <a:srgbClr val="4ECDC4">
                <a:alpha val="1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7" name="Picture 56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966642" y="5334000"/>
              <a:ext cx="1629976" cy="342900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6457788" y="6391275"/>
              <a:ext cx="483857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Focus on high-revenue age groups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457788" y="6705600"/>
              <a:ext cx="483857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Personalized campaigns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457788" y="7019925"/>
              <a:ext cx="4838579" cy="23812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196" b="0">
                  <a:solidFill>
                    <a:srgbClr val="555555"/>
                  </a:solidFill>
                  <a:latin typeface="Source Sans Pro"/>
                </a:rPr>
                <a:t>Express-shipping user targeting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7095947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7248343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7400739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7553136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4ECD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7705532" y="7524749"/>
              <a:ext cx="114297" cy="11430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6" name="Rounded Rectangle 65"/>
          <p:cNvSpPr/>
          <p:nvPr/>
        </p:nvSpPr>
        <p:spPr>
          <a:xfrm>
            <a:off x="2295467" y="8172450"/>
            <a:ext cx="7600759" cy="914400"/>
          </a:xfrm>
          <a:prstGeom prst="roundRect">
            <a:avLst>
              <a:gd name="adj" fmla="val 20833"/>
            </a:avLst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Footer Placeholder 68">
            <a:extLst>
              <a:ext uri="{FF2B5EF4-FFF2-40B4-BE49-F238E27FC236}">
                <a16:creationId xmlns:a16="http://schemas.microsoft.com/office/drawing/2014/main" id="{D11FC0F9-390D-DAD7-C16A-41A50E6D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288" y="-28853"/>
            <a:ext cx="12191695" cy="857250"/>
          </a:xfrm>
          <a:prstGeom prst="rect">
            <a:avLst/>
          </a:prstGeom>
          <a:solidFill>
            <a:srgbClr val="10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2446" y="288090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</a:rPr>
              <a:t>Conclusion &amp; Next Steps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EEA268-856B-A89B-1FED-24717085C977}"/>
              </a:ext>
            </a:extLst>
          </p:cNvPr>
          <p:cNvGrpSpPr/>
          <p:nvPr/>
        </p:nvGrpSpPr>
        <p:grpSpPr>
          <a:xfrm>
            <a:off x="666457" y="1681569"/>
            <a:ext cx="5197748" cy="3023642"/>
            <a:chOff x="652446" y="1143000"/>
            <a:chExt cx="5300529" cy="4219575"/>
          </a:xfrm>
        </p:grpSpPr>
        <p:sp>
          <p:nvSpPr>
            <p:cNvPr id="4" name="Rounded Rectangle 3"/>
            <p:cNvSpPr/>
            <p:nvPr/>
          </p:nvSpPr>
          <p:spPr>
            <a:xfrm>
              <a:off x="666733" y="1143000"/>
              <a:ext cx="5286242" cy="4219575"/>
            </a:xfrm>
            <a:prstGeom prst="roundRect">
              <a:avLst>
                <a:gd name="adj" fmla="val 4514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904852" y="1430820"/>
              <a:ext cx="457188" cy="35780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504912" y="1466849"/>
              <a:ext cx="1476338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>
                  <a:solidFill>
                    <a:srgbClr val="103652"/>
                  </a:solidFill>
                  <a:latin typeface="Source Sans Pro"/>
                </a:rPr>
                <a:t>Key Takeaways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3912" y="2076449"/>
              <a:ext cx="809604" cy="428625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152" b="1" dirty="0">
                  <a:solidFill>
                    <a:srgbClr val="4ECDC4"/>
                  </a:solidFill>
                  <a:latin typeface="Source Sans Pro"/>
                </a:rPr>
                <a:t>3,900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57328" y="2028825"/>
              <a:ext cx="3857528" cy="476249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196" b="0">
                  <a:solidFill>
                    <a:srgbClr val="333333"/>
                  </a:solidFill>
                  <a:latin typeface="Source Sans Pro"/>
                </a:rPr>
                <a:t>Transactions analyzed for comprehensive insights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04852" y="2647949"/>
              <a:ext cx="4810004" cy="476249"/>
            </a:xfrm>
            <a:prstGeom prst="rect">
              <a:avLst/>
            </a:prstGeom>
            <a:noFill/>
          </p:spPr>
          <p:txBody>
            <a:bodyPr wrap="squar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Customer segmentation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reveals distinct purchasing patterns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04852" y="3267075"/>
              <a:ext cx="4810004" cy="476249"/>
            </a:xfrm>
            <a:prstGeom prst="rect">
              <a:avLst/>
            </a:prstGeom>
            <a:noFill/>
          </p:spPr>
          <p:txBody>
            <a:bodyPr wrap="squar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Discount effectiveness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varies by category and demographics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04852" y="3886200"/>
              <a:ext cx="4810004" cy="476249"/>
            </a:xfrm>
            <a:prstGeom prst="rect">
              <a:avLst/>
            </a:prstGeom>
            <a:noFill/>
          </p:spPr>
          <p:txBody>
            <a:bodyPr wrap="squar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Subscription status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strongly correlates with loyalty and spending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04852" y="4505325"/>
              <a:ext cx="4810004" cy="476249"/>
            </a:xfrm>
            <a:prstGeom prst="rect">
              <a:avLst/>
            </a:prstGeom>
            <a:noFill/>
          </p:spPr>
          <p:txBody>
            <a:bodyPr wrap="square" lIns="182880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975"/>
                </a:spcAft>
              </a:pPr>
              <a:r>
                <a:rPr sz="1196" b="1">
                  <a:solidFill>
                    <a:srgbClr val="4ECDC4"/>
                  </a:solidFill>
                  <a:latin typeface="Source Sans Pro"/>
                </a:rPr>
                <a:t>Seasonal trends</a:t>
              </a:r>
              <a:r>
                <a:rPr sz="1196" b="0">
                  <a:solidFill>
                    <a:srgbClr val="000000"/>
                  </a:solidFill>
                  <a:latin typeface="Source Sans Pro"/>
                </a:rPr>
                <a:t> impact product preferences and purchase amounts</a:t>
              </a:r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2446" y="2166109"/>
              <a:ext cx="457188" cy="248478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6FF7C3F-7614-812D-E113-116420064B88}"/>
              </a:ext>
            </a:extLst>
          </p:cNvPr>
          <p:cNvGrpSpPr/>
          <p:nvPr/>
        </p:nvGrpSpPr>
        <p:grpSpPr>
          <a:xfrm>
            <a:off x="6894335" y="1220098"/>
            <a:ext cx="4232178" cy="3520523"/>
            <a:chOff x="6476838" y="1445729"/>
            <a:chExt cx="4810004" cy="4907445"/>
          </a:xfrm>
        </p:grpSpPr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6838" y="1445729"/>
              <a:ext cx="457188" cy="327991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076898" y="1466849"/>
              <a:ext cx="1038199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35" b="1" dirty="0">
                  <a:solidFill>
                    <a:srgbClr val="103652"/>
                  </a:solidFill>
                  <a:latin typeface="Source Sans Pro"/>
                </a:rPr>
                <a:t>Next Steps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76838" y="2124075"/>
              <a:ext cx="2333566" cy="1314450"/>
            </a:xfrm>
            <a:prstGeom prst="roundRect">
              <a:avLst>
                <a:gd name="adj" fmla="val 11594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19709" y="2266950"/>
              <a:ext cx="2047823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4ECDC4"/>
                  </a:solidFill>
                  <a:latin typeface="Source Sans Pro"/>
                </a:rPr>
                <a:t>01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19709" y="2638425"/>
              <a:ext cx="2047823" cy="657225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  <a:latin typeface="Source Sans Pro"/>
                </a:rPr>
                <a:t>Implement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customer loyalty program</a:t>
              </a:r>
              <a:r>
                <a:rPr sz="1076" b="0">
                  <a:solidFill>
                    <a:srgbClr val="333333"/>
                  </a:solidFill>
                  <a:latin typeface="Source Sans Pro"/>
                </a:rPr>
                <a:t> with tier-based rewards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953276" y="2124075"/>
              <a:ext cx="2333566" cy="1314450"/>
            </a:xfrm>
            <a:prstGeom prst="roundRect">
              <a:avLst>
                <a:gd name="adj" fmla="val 11594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096147" y="2266950"/>
              <a:ext cx="2047823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4ECDC4"/>
                  </a:solidFill>
                  <a:latin typeface="Source Sans Pro"/>
                </a:rPr>
                <a:t>02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096147" y="2638425"/>
              <a:ext cx="2047823" cy="657225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  <a:latin typeface="Source Sans Pro"/>
                </a:rPr>
                <a:t>Develop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targeted marketing campaigns</a:t>
              </a:r>
              <a:r>
                <a:rPr sz="1076" b="0">
                  <a:solidFill>
                    <a:srgbClr val="333333"/>
                  </a:solidFill>
                  <a:latin typeface="Source Sans Pro"/>
                </a:rPr>
                <a:t> for high-value segments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476838" y="3581400"/>
              <a:ext cx="2333566" cy="1314450"/>
            </a:xfrm>
            <a:prstGeom prst="roundRect">
              <a:avLst>
                <a:gd name="adj" fmla="val 11594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19709" y="3724274"/>
              <a:ext cx="2047823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4ECDC4"/>
                  </a:solidFill>
                  <a:latin typeface="Source Sans Pro"/>
                </a:rPr>
                <a:t>03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619709" y="4095749"/>
              <a:ext cx="2047823" cy="657225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  <a:latin typeface="Source Sans Pro"/>
                </a:rPr>
                <a:t>Refine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discount strategy</a:t>
              </a:r>
              <a:r>
                <a:rPr sz="1076" b="0">
                  <a:solidFill>
                    <a:srgbClr val="333333"/>
                  </a:solidFill>
                  <a:latin typeface="Source Sans Pro"/>
                </a:rPr>
                <a:t> based on category sensitivity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953276" y="3581400"/>
              <a:ext cx="2333566" cy="1314450"/>
            </a:xfrm>
            <a:prstGeom prst="roundRect">
              <a:avLst>
                <a:gd name="adj" fmla="val 11594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096147" y="3724274"/>
              <a:ext cx="2047823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4ECDC4"/>
                  </a:solidFill>
                  <a:latin typeface="Source Sans Pro"/>
                </a:rPr>
                <a:t>04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96147" y="4095749"/>
              <a:ext cx="2047823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  <a:latin typeface="Source Sans Pro"/>
                </a:rPr>
                <a:t>Expand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subscription benefits</a:t>
              </a:r>
              <a:r>
                <a:rPr sz="1076" b="0">
                  <a:solidFill>
                    <a:srgbClr val="333333"/>
                  </a:solidFill>
                  <a:latin typeface="Source Sans Pro"/>
                </a:rPr>
                <a:t> to drive enrollment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476838" y="5038724"/>
              <a:ext cx="2333566" cy="1314450"/>
            </a:xfrm>
            <a:prstGeom prst="roundRect">
              <a:avLst>
                <a:gd name="adj" fmla="val 11594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19709" y="5181599"/>
              <a:ext cx="2047823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4ECDC4"/>
                  </a:solidFill>
                  <a:latin typeface="Source Sans Pro"/>
                </a:rPr>
                <a:t>05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619709" y="5553074"/>
              <a:ext cx="2047823" cy="657225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  <a:latin typeface="Source Sans Pro"/>
                </a:rPr>
                <a:t>Implement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continuous monitoring</a:t>
              </a:r>
              <a:r>
                <a:rPr sz="1076" b="0">
                  <a:solidFill>
                    <a:srgbClr val="333333"/>
                  </a:solidFill>
                  <a:latin typeface="Source Sans Pro"/>
                </a:rPr>
                <a:t> of customer behavior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8953276" y="5038724"/>
              <a:ext cx="2333566" cy="1314450"/>
            </a:xfrm>
            <a:prstGeom prst="roundRect">
              <a:avLst>
                <a:gd name="adj" fmla="val 11594"/>
              </a:avLst>
            </a:prstGeom>
            <a:solidFill>
              <a:srgbClr val="4ECDC4">
                <a:alpha val="1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096147" y="5181599"/>
              <a:ext cx="2047823" cy="295274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520"/>
                </a:spcAft>
              </a:pPr>
              <a:r>
                <a:rPr sz="1435" b="1">
                  <a:solidFill>
                    <a:srgbClr val="4ECDC4"/>
                  </a:solidFill>
                  <a:latin typeface="Source Sans Pro"/>
                </a:rPr>
                <a:t>06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96147" y="5553074"/>
              <a:ext cx="2047823" cy="438149"/>
            </a:xfrm>
            <a:prstGeom prst="rect">
              <a:avLst/>
            </a:prstGeom>
            <a:noFill/>
          </p:spPr>
          <p:txBody>
            <a:bodyPr wrap="squar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76" b="0">
                  <a:solidFill>
                    <a:srgbClr val="333333"/>
                  </a:solidFill>
                  <a:latin typeface="Source Sans Pro"/>
                </a:rPr>
                <a:t>Schedule </a:t>
              </a:r>
              <a:r>
                <a:rPr sz="1076" b="1">
                  <a:solidFill>
                    <a:srgbClr val="4ECDC4"/>
                  </a:solidFill>
                  <a:latin typeface="Source Sans Pro"/>
                </a:rPr>
                <a:t>quarterly reviews</a:t>
              </a:r>
              <a:r>
                <a:rPr sz="1076" b="0">
                  <a:solidFill>
                    <a:srgbClr val="333333"/>
                  </a:solidFill>
                  <a:latin typeface="Source Sans Pro"/>
                </a:rPr>
                <a:t> of KPIs and strategies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60B43C9-76DB-83EB-FAAD-4093829B2EB5}"/>
              </a:ext>
            </a:extLst>
          </p:cNvPr>
          <p:cNvGrpSpPr/>
          <p:nvPr/>
        </p:nvGrpSpPr>
        <p:grpSpPr>
          <a:xfrm>
            <a:off x="809761" y="5446825"/>
            <a:ext cx="10858228" cy="819149"/>
            <a:chOff x="666733" y="8582025"/>
            <a:chExt cx="10858228" cy="819149"/>
          </a:xfrm>
        </p:grpSpPr>
        <p:sp>
          <p:nvSpPr>
            <p:cNvPr id="36" name="Rounded Rectangle 35"/>
            <p:cNvSpPr/>
            <p:nvPr/>
          </p:nvSpPr>
          <p:spPr>
            <a:xfrm>
              <a:off x="666733" y="8582025"/>
              <a:ext cx="10858228" cy="819149"/>
            </a:xfrm>
            <a:prstGeom prst="roundRect">
              <a:avLst>
                <a:gd name="adj" fmla="val 23255"/>
              </a:avLst>
            </a:prstGeom>
            <a:solidFill>
              <a:srgbClr val="1036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04852" y="8820149"/>
              <a:ext cx="3400339" cy="342900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74" b="1">
                  <a:solidFill>
                    <a:srgbClr val="FFFFFF"/>
                  </a:solidFill>
                  <a:latin typeface="Source Sans Pro"/>
                </a:rPr>
                <a:t>Thank You For Your Attention!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762380" y="8851240"/>
              <a:ext cx="1652953" cy="280718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 dirty="0">
                  <a:solidFill>
                    <a:srgbClr val="FFFFFF"/>
                  </a:solidFill>
                  <a:latin typeface="Source Sans Pro"/>
                </a:rPr>
                <a:t> </a:t>
              </a:r>
              <a:r>
                <a:rPr sz="1104" dirty="0"/>
                <a:t>  </a:t>
              </a:r>
              <a:r>
                <a:rPr sz="956" b="0" dirty="0">
                  <a:solidFill>
                    <a:srgbClr val="FFFFFF"/>
                  </a:solidFill>
                  <a:latin typeface="Source Sans Pro"/>
                </a:rPr>
                <a:t> </a:t>
              </a:r>
              <a:r>
                <a:rPr lang="en-IN" sz="956" dirty="0">
                  <a:solidFill>
                    <a:srgbClr val="FFFFFF"/>
                  </a:solidFill>
                  <a:latin typeface="Source Sans Pro"/>
                </a:rPr>
                <a:t>tarunkari0411@gmail.com</a:t>
              </a:r>
              <a:r>
                <a:rPr sz="956" b="0" dirty="0">
                  <a:solidFill>
                    <a:srgbClr val="FFFFFF"/>
                  </a:solidFill>
                  <a:latin typeface="Source Sans Pro"/>
                </a:rPr>
                <a:t> </a:t>
              </a:r>
            </a:p>
          </p:txBody>
        </p:sp>
        <p:pic>
          <p:nvPicPr>
            <p:cNvPr id="39" name="Picture 38" descr="image.png"/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71894" y="8915439"/>
              <a:ext cx="228594" cy="165734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7172145" y="8851240"/>
              <a:ext cx="1136786" cy="280718"/>
            </a:xfrm>
            <a:prstGeom prst="rect">
              <a:avLst/>
            </a:prstGeom>
            <a:noFill/>
          </p:spPr>
          <p:txBody>
            <a:bodyPr wrap="none" lIns="73152" tIns="54864" rIns="73152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956" b="0" dirty="0">
                  <a:solidFill>
                    <a:srgbClr val="FFFFFF"/>
                  </a:solidFill>
                  <a:latin typeface="Source Sans Pro"/>
                </a:rPr>
                <a:t> </a:t>
              </a:r>
              <a:r>
                <a:rPr sz="1104" dirty="0"/>
                <a:t>  </a:t>
              </a:r>
              <a:r>
                <a:rPr sz="956" b="0" dirty="0">
                  <a:solidFill>
                    <a:srgbClr val="FFFFFF"/>
                  </a:solidFill>
                  <a:latin typeface="Source Sans Pro"/>
                </a:rPr>
                <a:t> </a:t>
              </a:r>
              <a:r>
                <a:rPr lang="en-IN" sz="956" dirty="0">
                  <a:solidFill>
                    <a:srgbClr val="FFFFFF"/>
                  </a:solidFill>
                  <a:latin typeface="Source Sans Pro"/>
                </a:rPr>
                <a:t>+49 15560711688</a:t>
              </a:r>
              <a:endParaRPr sz="956" b="0" dirty="0">
                <a:solidFill>
                  <a:srgbClr val="FFFFFF"/>
                </a:solidFill>
                <a:latin typeface="Source Sans Pro"/>
              </a:endParaRPr>
            </a:p>
          </p:txBody>
        </p:sp>
        <p:pic>
          <p:nvPicPr>
            <p:cNvPr id="41" name="Picture 40" descr="image.png"/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109756" y="8911590"/>
              <a:ext cx="228594" cy="177164"/>
            </a:xfrm>
            <a:prstGeom prst="rect">
              <a:avLst/>
            </a:prstGeom>
          </p:spPr>
        </p:pic>
      </p:grpSp>
      <p:pic>
        <p:nvPicPr>
          <p:cNvPr id="48" name="Graphic 47" descr="Marker with solid fill">
            <a:extLst>
              <a:ext uri="{FF2B5EF4-FFF2-40B4-BE49-F238E27FC236}">
                <a16:creationId xmlns:a16="http://schemas.microsoft.com/office/drawing/2014/main" id="{358BA8C7-8C09-B848-C5E2-1D350A7ED7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99440" y="5712989"/>
            <a:ext cx="257352" cy="25735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FB87BD5-9B2C-7210-C3E0-FCB034097D26}"/>
              </a:ext>
            </a:extLst>
          </p:cNvPr>
          <p:cNvSpPr txBox="1"/>
          <p:nvPr/>
        </p:nvSpPr>
        <p:spPr>
          <a:xfrm>
            <a:off x="9249085" y="5624111"/>
            <a:ext cx="1146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Berlin</a:t>
            </a:r>
            <a:r>
              <a:rPr lang="en-IN" sz="200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en-IN" sz="1050" dirty="0">
                <a:solidFill>
                  <a:schemeClr val="bg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Germany</a:t>
            </a:r>
            <a:endParaRPr lang="en-IN" sz="2000" dirty="0">
              <a:solidFill>
                <a:schemeClr val="bg2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52200E19-426E-6F22-A94F-2375FBB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Tarun Kari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956</Words>
  <Application>Microsoft Office PowerPoint</Application>
  <PresentationFormat>Widescreen</PresentationFormat>
  <Paragraphs>200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Tarun k</cp:lastModifiedBy>
  <cp:revision>2</cp:revision>
  <dcterms:created xsi:type="dcterms:W3CDTF">2013-01-27T09:14:16Z</dcterms:created>
  <dcterms:modified xsi:type="dcterms:W3CDTF">2026-01-22T14:28:39Z</dcterms:modified>
  <cp:category/>
</cp:coreProperties>
</file>